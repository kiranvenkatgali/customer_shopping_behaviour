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Condensed Bold"/>
      <p:regular r:id="rId201314"/>
    </p:embeddedFont>
    <p:embeddedFont>
      <p:font typeface="IBM Plex Mono Medium"/>
      <p:regular r:id="rId201315"/>
    </p:embeddedFont>
    <p:embeddedFont>
      <p:font typeface="IBM Plex Mono SemiBold"/>
      <p:regular r:id="rId201316"/>
    </p:embeddedFont>
    <p:embeddedFont>
      <p:font typeface="Source Sans 3"/>
      <p:regular r:id="rId201317"/>
    </p:embeddedFont>
    <p:embeddedFont>
      <p:font typeface="Source Sans 3 SemiBold"/>
      <p:regular r:id="rId201318"/>
    </p:embeddedFont>
    <p:embeddedFont>
      <p:font typeface="Source Sans 3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685800"/>
            <a:ext cx="6984825" cy="5461000"/>
          </a:xfrm>
          <a:prstGeom prst="rect">
            <a:avLst/>
          </a:prstGeom>
          <a:solidFill>
            <a:srgbClr val="F8F5EE"/>
          </a:solidFill>
          <a:ln/>
        </p:spPr>
      </p:sp>
      <p:sp>
        <p:nvSpPr>
          <p:cNvPr id="3" name="Text 1"/>
          <p:cNvSpPr/>
          <p:nvPr/>
        </p:nvSpPr>
        <p:spPr>
          <a:xfrm>
            <a:off x="914377" y="1075531"/>
            <a:ext cx="67816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CUSTOMER SHOPPING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377" y="1384300"/>
            <a:ext cx="617204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spc="-100" kern="100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Customer shopping behaviour is shaped by loyalty, not just promotions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14377" y="3422650"/>
            <a:ext cx="6172046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What 3,900 purchases reveal about customer segments, product demand, discounts, subscriptions, and growth priorities.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377" y="4159052"/>
            <a:ext cx="678163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DECISION READOUT · CUSTOMER GROWTH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The analysis turns 3,900 transactions into a usable decision base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2185194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DATASET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390" y="2523728"/>
            <a:ext cx="356434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3,900 purchases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06390" y="3013273"/>
            <a:ext cx="3564344" cy="48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Across 18 fields covering customer, product, purchase, and fulfilment behaviour.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27923" y="2185194"/>
            <a:ext cx="356434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PREPARATION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27923" y="2523728"/>
            <a:ext cx="333575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Prepared for comparison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27923" y="3013273"/>
            <a:ext cx="3335750" cy="725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Missing ratings imputed by product category median; age groups and purchase-frequency fields added.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0862" y="2185194"/>
            <a:ext cx="356434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METHOD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0862" y="2523728"/>
            <a:ext cx="356434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Built for business questions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220862" y="3013273"/>
            <a:ext cx="3564344" cy="725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Python for cleaning and feature engineering, PostgreSQL for business questions, Power BI for visualization.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831384"/>
            <a:ext cx="12191695" cy="1905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7" name="Text 15"/>
          <p:cNvSpPr/>
          <p:nvPr/>
        </p:nvSpPr>
        <p:spPr>
          <a:xfrm>
            <a:off x="406390" y="6243957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SO WHAT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113207" y="6216055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The dataset is structured enough to move from description to targeting.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92979" y="2179241"/>
            <a:ext cx="12700" cy="3474343"/>
          </a:xfrm>
          <a:prstGeom prst="rect">
            <a:avLst/>
          </a:prstGeom>
          <a:solidFill>
            <a:srgbClr val="AEB8C2"/>
          </a:solidFill>
          <a:ln/>
        </p:spPr>
      </p:sp>
      <p:sp>
        <p:nvSpPr>
          <p:cNvPr id="21" name="Shape 19"/>
          <p:cNvSpPr/>
          <p:nvPr/>
        </p:nvSpPr>
        <p:spPr>
          <a:xfrm>
            <a:off x="7985917" y="2179241"/>
            <a:ext cx="12700" cy="3474343"/>
          </a:xfrm>
          <a:prstGeom prst="rect">
            <a:avLst/>
          </a:prstGeom>
          <a:solidFill>
            <a:srgbClr val="AEB8C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CUSTOMER SEGMENTS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Loyal customers dominate the base, leaving a smaller pipeline to build</a:t>
            </a:r>
            <a:endParaRPr lang="en-US" sz="4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2388096"/>
            <a:ext cx="6476838" cy="292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41558" y="3031827"/>
            <a:ext cx="3943747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THE COMMERCIAL OPPORTUNITY IS TWO-SIDED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41558" y="3370362"/>
            <a:ext cx="3943747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Protect the loyal core.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841558" y="3859907"/>
            <a:ext cx="3943747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Move returning and new customers forward.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841558" y="4301331"/>
            <a:ext cx="1301321" cy="38100"/>
          </a:xfrm>
          <a:prstGeom prst="roundRect">
            <a:avLst>
              <a:gd name="adj" fmla="val 49999"/>
            </a:avLst>
          </a:prstGeom>
          <a:solidFill>
            <a:srgbClr val="2857D6"/>
          </a:solidFill>
          <a:ln/>
        </p:spPr>
      </p:sp>
      <p:sp>
        <p:nvSpPr>
          <p:cNvPr id="11" name="Text 8"/>
          <p:cNvSpPr/>
          <p:nvPr/>
        </p:nvSpPr>
        <p:spPr>
          <a:xfrm>
            <a:off x="7841558" y="4510484"/>
            <a:ext cx="3943747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Loyal · 3,116   Returning · 701   New · 83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6390" y="5492849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CUSTOMER SEGMENTS · 3,900 PURCHASES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4" name="Shape 11"/>
          <p:cNvSpPr/>
          <p:nvPr/>
        </p:nvSpPr>
        <p:spPr>
          <a:xfrm>
            <a:off x="0" y="5831384"/>
            <a:ext cx="12191695" cy="1905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5" name="Text 12"/>
          <p:cNvSpPr/>
          <p:nvPr/>
        </p:nvSpPr>
        <p:spPr>
          <a:xfrm>
            <a:off x="406390" y="6243957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SO WHAT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2113207" y="6216055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Retention protects the base; conversion work belongs in the smaller returning and new pools.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03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606614" y="2388096"/>
            <a:ext cx="12700" cy="2921000"/>
          </a:xfrm>
          <a:prstGeom prst="rect">
            <a:avLst/>
          </a:prstGeom>
          <a:solidFill>
            <a:srgbClr val="AEB8C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REVENUE CONCENTRATION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Revenue concentration points to clear targeting priorities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2176562"/>
            <a:ext cx="6917061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REVENUE BY AGE GROUP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2451596"/>
            <a:ext cx="6603835" cy="2857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80540" y="2407245"/>
            <a:ext cx="400476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TWO TARGETING SIGNALS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80540" y="2745780"/>
            <a:ext cx="4004765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Male customers generated 157,890 in revenue.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780540" y="3581995"/>
            <a:ext cx="4004765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Female customers generated 75,191.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80540" y="4036120"/>
            <a:ext cx="4004765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Young Adults lead.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780540" y="4525665"/>
            <a:ext cx="4004765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They generated 62,143, followed by Middle-aged customers at 59,197.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06390" y="5492849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Revenue is distributed across age groups, but the youngest cohort is the strongest single contributor.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5" name="Shape 12"/>
          <p:cNvSpPr/>
          <p:nvPr/>
        </p:nvSpPr>
        <p:spPr>
          <a:xfrm>
            <a:off x="0" y="5831384"/>
            <a:ext cx="12191695" cy="1905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6" name="Text 13"/>
          <p:cNvSpPr/>
          <p:nvPr/>
        </p:nvSpPr>
        <p:spPr>
          <a:xfrm>
            <a:off x="406390" y="6243957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SO WHAT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2113207" y="6216055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Start with Young Adults, while keeping the broader age base in view.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DISCOUNT DEPENDENCE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Discounts are widespread, but not evenly distributed across products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2394049"/>
            <a:ext cx="739627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PRODUCTS MOST DEPENDENT ON DISCOUNTING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2669084"/>
            <a:ext cx="6603835" cy="2984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31259" y="2872978"/>
            <a:ext cx="375404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A TIGHT CLUSTER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31259" y="3211512"/>
            <a:ext cx="375404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47.37%–50.00%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031259" y="3701058"/>
            <a:ext cx="3754046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Hat leads at 50.00%. The top five sit within a tight 2.63-point range.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31259" y="4418806"/>
            <a:ext cx="1238715" cy="38100"/>
          </a:xfrm>
          <a:prstGeom prst="roundRect">
            <a:avLst>
              <a:gd name="adj" fmla="val 49999"/>
            </a:avLst>
          </a:prstGeom>
          <a:solidFill>
            <a:srgbClr val="2857D6"/>
          </a:solidFill>
          <a:ln/>
        </p:spPr>
      </p:sp>
      <p:sp>
        <p:nvSpPr>
          <p:cNvPr id="12" name="Text 9"/>
          <p:cNvSpPr/>
          <p:nvPr/>
        </p:nvSpPr>
        <p:spPr>
          <a:xfrm>
            <a:off x="8031259" y="4622006"/>
            <a:ext cx="3754046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Use discount depth as a margin-control lever, not only a volume lever.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4" name="Shape 11"/>
          <p:cNvSpPr/>
          <p:nvPr/>
        </p:nvSpPr>
        <p:spPr>
          <a:xfrm>
            <a:off x="0" y="5831384"/>
            <a:ext cx="12191695" cy="1905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5" name="Text 12"/>
          <p:cNvSpPr/>
          <p:nvPr/>
        </p:nvSpPr>
        <p:spPr>
          <a:xfrm>
            <a:off x="406390" y="6243957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SO WHAT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2113207" y="6216055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The pattern is category-wide: review the economics of the 47–50% discount band.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05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796315" y="2388096"/>
            <a:ext cx="12700" cy="3265488"/>
          </a:xfrm>
          <a:prstGeom prst="rect">
            <a:avLst/>
          </a:prstGeom>
          <a:solidFill>
            <a:srgbClr val="AEB8C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SUBSCRIPTION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Subscriptions are not yet changing individual spend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680170"/>
          <a:ext cx="6917061" cy="914400"/>
        </p:xfrm>
        <a:graphic>
          <a:graphicData uri="http://schemas.openxmlformats.org/drawingml/2006/table">
            <a:tbl>
              <a:tblPr/>
              <a:tblGrid>
                <a:gridCol w="2075108"/>
                <a:gridCol w="1590834"/>
                <a:gridCol w="1660087"/>
                <a:gridCol w="1591032"/>
              </a:tblGrid>
              <a:tr h="4515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Status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Average spend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Total revenue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Customers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5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Subscriber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59.49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62,645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1,053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Non-subscriber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59.87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170,436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2,847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80540" y="1686123"/>
            <a:ext cx="400476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THE GAP IS PRIMARILY SCALE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80540" y="2062758"/>
            <a:ext cx="400476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15" kern="100" dirty="0">
                <a:solidFill>
                  <a:srgbClr val="2857D6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59.49 ≈ 59.87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80540" y="2602508"/>
            <a:ext cx="4004765" cy="121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Average spend is nearly identical.</a:t>
            </a:r>
            <a:endParaRPr lang="en-US" sz="16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Subscription growth should focus on conversion and retention benefits, not assume higher basket size today.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5831384"/>
            <a:ext cx="12191695" cy="1905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2" name="Text 9"/>
          <p:cNvSpPr/>
          <p:nvPr/>
        </p:nvSpPr>
        <p:spPr>
          <a:xfrm>
            <a:off x="406390" y="6243957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SO WHAT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2113207" y="6216055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Build subscription value through adoption and retention, not a presumed basket uplift.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REPEAT BUYING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Repeat buying is a larger pool than subscription adoption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2457549"/>
            <a:ext cx="739627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REPEAT BUYERS BY SUBSCRIPTION STATUS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2732584"/>
            <a:ext cx="6603835" cy="292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31259" y="2849364"/>
            <a:ext cx="375404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A CONVERSION POOL HIDING IN PLAIN SIGHT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31259" y="3225998"/>
            <a:ext cx="375404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15" kern="100" dirty="0">
                <a:solidFill>
                  <a:srgbClr val="2857D6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2.6×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031259" y="3765748"/>
            <a:ext cx="3754046" cy="1495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Repeat buyers outnumber subscribers by roughly 2.6 to 1 in this view.</a:t>
            </a:r>
            <a:endParaRPr lang="en-US" sz="16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The clearest near-term audience for subscription conversion is the 2,518 repeat buyers outside the programme.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5831384"/>
            <a:ext cx="12191695" cy="1905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3" name="Text 10"/>
          <p:cNvSpPr/>
          <p:nvPr/>
        </p:nvSpPr>
        <p:spPr>
          <a:xfrm>
            <a:off x="406390" y="6243957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SO WHAT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113207" y="6216055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Convert demonstrated repeat behaviour before chasing customers with less evidence of commitment.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07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96315" y="2451596"/>
            <a:ext cx="12700" cy="3201988"/>
          </a:xfrm>
          <a:prstGeom prst="rect">
            <a:avLst/>
          </a:prstGeom>
          <a:solidFill>
            <a:srgbClr val="AEB8C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PRODUCT SIGNALS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07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Product signals are positive, but tightly clustered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2394049"/>
            <a:ext cx="6917061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TOP-RATED PRODUCTS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2669084"/>
            <a:ext cx="6603835" cy="2984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80540" y="2955826"/>
            <a:ext cx="400476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THE SIGNAL IS REAL, NOT BREAKOUT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80540" y="3332460"/>
            <a:ext cx="400476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15" kern="100" dirty="0">
                <a:solidFill>
                  <a:srgbClr val="2857D6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0.08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80540" y="3872210"/>
            <a:ext cx="4004765" cy="121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The top-five rating spread is only 0.08 points.</a:t>
            </a:r>
            <a:endParaRPr lang="en-US" sz="16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Feature top-rated items in campaigns, but combine ratings with purchase volume and discount dependence.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5831384"/>
            <a:ext cx="12191695" cy="1905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3" name="Text 10"/>
          <p:cNvSpPr/>
          <p:nvPr/>
        </p:nvSpPr>
        <p:spPr>
          <a:xfrm>
            <a:off x="406390" y="6243957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SO WHAT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113207" y="6216055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Ratings can guide creative emphasis, but they should not carry the growth case alone.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FULFILMENT SIGNAL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08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Express shipping correlates with slightly larger baskets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2457549"/>
            <a:ext cx="739627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AVERAGE PURCHASE BY SHIPPING TYPE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2732584"/>
            <a:ext cx="6603835" cy="292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31259" y="2987576"/>
            <a:ext cx="375404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A MODEST PREMIUM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31259" y="3364210"/>
            <a:ext cx="375404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15" kern="100" dirty="0">
                <a:solidFill>
                  <a:srgbClr val="2857D6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+2.02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031259" y="3903960"/>
            <a:ext cx="3754046" cy="1219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Express shipping averages 60.48 versus 58.46 with Standard shipping.</a:t>
            </a:r>
            <a:endParaRPr lang="en-US" sz="16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Pair fulfilment messaging with high-value or time-sensitive campaigns.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5831384"/>
            <a:ext cx="12191695" cy="1905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3" name="Text 10"/>
          <p:cNvSpPr/>
          <p:nvPr/>
        </p:nvSpPr>
        <p:spPr>
          <a:xfrm>
            <a:off x="406390" y="6243957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SO WHAT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113207" y="6216055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Test Express as a premium convenience cue, while treating the relationship as a correlation.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09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96315" y="2451596"/>
            <a:ext cx="12700" cy="3201988"/>
          </a:xfrm>
          <a:prstGeom prst="rect">
            <a:avLst/>
          </a:prstGeom>
          <a:solidFill>
            <a:srgbClr val="AEB8C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GROWTH PRIORITIES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CLOSE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Five actions translate the analysis into growth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1661120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6390" y="1945580"/>
            <a:ext cx="2031850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8" name="Text 6"/>
          <p:cNvSpPr/>
          <p:nvPr/>
        </p:nvSpPr>
        <p:spPr>
          <a:xfrm>
            <a:off x="406390" y="2086471"/>
            <a:ext cx="2031949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Convert repeat buyers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06390" y="2922687"/>
            <a:ext cx="2031949" cy="725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Target the 2,518 repeat buyers outside the subscription programme.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032" y="1661120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032" y="1945580"/>
            <a:ext cx="2032048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032" y="2086471"/>
            <a:ext cx="203204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Protect loyalty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743032" y="2576016"/>
            <a:ext cx="2032048" cy="725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Reward the 3,116 loyal customers with retention benefits.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9774" y="1661120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79774" y="1945580"/>
            <a:ext cx="2032048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16" name="Text 14"/>
          <p:cNvSpPr/>
          <p:nvPr/>
        </p:nvSpPr>
        <p:spPr>
          <a:xfrm>
            <a:off x="5079774" y="2086471"/>
            <a:ext cx="2032048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Rebalance discounts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079774" y="2922687"/>
            <a:ext cx="2032048" cy="725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Review products clustered around 47–50% discount rates.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16515" y="1661120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0"/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16515" y="1945580"/>
            <a:ext cx="2032048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20" name="Text 18"/>
          <p:cNvSpPr/>
          <p:nvPr/>
        </p:nvSpPr>
        <p:spPr>
          <a:xfrm>
            <a:off x="7416515" y="2086471"/>
            <a:ext cx="203204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Focus campaigns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16515" y="2576016"/>
            <a:ext cx="2032048" cy="725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Prioritize Young Adults and the strongest-rated products.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53257" y="1661120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0"/>
              </a:rPr>
              <a:t>05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53257" y="1945580"/>
            <a:ext cx="2031850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24" name="Text 22"/>
          <p:cNvSpPr/>
          <p:nvPr/>
        </p:nvSpPr>
        <p:spPr>
          <a:xfrm>
            <a:off x="9753257" y="2086471"/>
            <a:ext cx="2031949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Test convenience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753257" y="2576016"/>
            <a:ext cx="2031949" cy="48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Position Express shipping in higher-value journeys.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6390" y="5492849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FROM CUSTOMER BASE TO CONVERSION, MARGIN, CAMPAIGN, AND FULFILMENT PRIORITIES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5831384"/>
            <a:ext cx="12191695" cy="1905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29" name="Text 27"/>
          <p:cNvSpPr/>
          <p:nvPr/>
        </p:nvSpPr>
        <p:spPr>
          <a:xfrm>
            <a:off x="406390" y="6243957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SO WHAT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2113207" y="6216055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Use loyalty as the growth engine, and promotions and convenience as controlled levers around it.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2026-10-29T06:37:18Z</dcterms:created>
  <dcterms:modified xsi:type="dcterms:W3CDTF">2026-10-29T06:37:18Z</dcterms:modified>
</cp:coreProperties>
</file>